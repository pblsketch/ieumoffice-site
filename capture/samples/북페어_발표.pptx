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8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43800" y="640080"/>
            <a:ext cx="4297680" cy="4297680"/>
          </a:xfrm>
          <a:prstGeom prst="ellipse">
            <a:avLst/>
          </a:prstGeom>
          <a:solidFill>
            <a:srgbClr val="312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561320" y="4343400"/>
            <a:ext cx="1280160" cy="128016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315200" y="5394960"/>
            <a:ext cx="502920" cy="502920"/>
          </a:xfrm>
          <a:prstGeom prst="ellipse">
            <a:avLst/>
          </a:prstGeom>
          <a:solidFill>
            <a:srgbClr val="8B8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732520" y="4160520"/>
            <a:ext cx="2651760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933688" y="4251959"/>
            <a:ext cx="54864" cy="201167"/>
          </a:xfrm>
          <a:prstGeom prst="rect">
            <a:avLst/>
          </a:prstGeom>
          <a:solidFill>
            <a:srgbClr val="312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961120" y="3776472"/>
            <a:ext cx="2286000" cy="384048"/>
          </a:xfrm>
          <a:prstGeom prst="roundRect">
            <a:avLst>
              <a:gd name="adj" fmla="val 18000"/>
            </a:avLst>
          </a:prstGeom>
          <a:solidFill>
            <a:srgbClr val="FF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162288" y="3867911"/>
            <a:ext cx="54864" cy="201167"/>
          </a:xfrm>
          <a:prstGeom prst="rect">
            <a:avLst/>
          </a:prstGeom>
          <a:solidFill>
            <a:srgbClr val="312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595360" y="3392424"/>
            <a:ext cx="2468880" cy="384048"/>
          </a:xfrm>
          <a:prstGeom prst="roundRect">
            <a:avLst>
              <a:gd name="adj" fmla="val 18000"/>
            </a:avLst>
          </a:prstGeom>
          <a:solidFill>
            <a:srgbClr val="C7C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796528" y="3483864"/>
            <a:ext cx="54864" cy="201167"/>
          </a:xfrm>
          <a:prstGeom prst="rect">
            <a:avLst/>
          </a:prstGeom>
          <a:solidFill>
            <a:srgbClr val="312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9098280" y="3008376"/>
            <a:ext cx="2011680" cy="384048"/>
          </a:xfrm>
          <a:prstGeom prst="roundRect">
            <a:avLst>
              <a:gd name="adj" fmla="val 18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9299448" y="3099816"/>
            <a:ext cx="54864" cy="201167"/>
          </a:xfrm>
          <a:prstGeom prst="rect">
            <a:avLst/>
          </a:prstGeom>
          <a:solidFill>
            <a:srgbClr val="312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412480" y="4544568"/>
            <a:ext cx="3200400" cy="54864"/>
          </a:xfrm>
          <a:prstGeom prst="rect">
            <a:avLst/>
          </a:prstGeom>
          <a:solidFill>
            <a:srgbClr val="312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22960" y="1325880"/>
            <a:ext cx="548640" cy="914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1554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600" b="1" lang="ko-KR" altLang="en-US">
                <a:solidFill>
                  <a:srgbClr val="FFB020"/>
                </a:solidFill>
                <a:latin typeface="맑은 고딕"/>
                <a:ea typeface="맑은 고딕"/>
                <a:cs typeface="맑은 고딕"/>
              </a:rPr>
              <a:t>이음책방 · 개점 7주년 기획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057400"/>
            <a:ext cx="731520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4000" b="1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 가을</a:t>
            </a:r>
          </a:p>
          <a:p>
            <a:pPr algn="l">
              <a:lnSpc>
                <a:spcPct val="105000"/>
              </a:lnSpc>
            </a:pPr>
            <a:r>
              <a:rPr sz="5400" b="1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골목 북페어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6908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000" b="0" lang="ko-KR" altLang="en-US">
                <a:solidFill>
                  <a:srgbClr val="E4E2FA"/>
                </a:solidFill>
                <a:latin typeface="맑은 고딕"/>
                <a:ea typeface="맑은 고딕"/>
                <a:cs typeface="맑은 고딕"/>
              </a:rPr>
              <a:t>책 한 권으로 이어지는 골목의 사흘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37760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312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51560" y="4937760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5000"/>
              </a:lnSpc>
            </a:pPr>
            <a:r>
              <a:rPr sz="1500" b="1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10.31 (토) – 11.2 (월)</a:t>
            </a:r>
            <a:r>
              <a:rPr sz="1500" b="0" lang="ko-KR" altLang="en-US">
                <a:solidFill>
                  <a:srgbClr val="E4E2FA"/>
                </a:solidFill>
                <a:latin typeface="맑은 고딕"/>
                <a:ea typeface="맑은 고딕"/>
                <a:cs typeface="맑은 고딕"/>
              </a:rPr>
              <a:t>   ·   연남 골목 일대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0" lang="ko-KR" altLang="en-US">
                <a:solidFill>
                  <a:srgbClr val="E4E2FA"/>
                </a:solidFill>
                <a:latin typeface="맑은 고딕"/>
                <a:ea typeface="맑은 고딕"/>
                <a:cs typeface="맑은 고딕"/>
              </a:rPr>
              <a:t>기획팀 김하늘 · 2026년 10월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84048" cy="73152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행사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이음책방 · 2026 가을 골목 북페어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2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골목 전체가 하나의 책 장터가 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6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서점 5곳, 출판사 14곳, 공방 6곳이 사흘 동안 함께 문을 엽니다.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2587752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14400" y="2880360"/>
            <a:ext cx="566928" cy="566928"/>
          </a:xfrm>
          <a:prstGeom prst="ellipse">
            <a:avLst/>
          </a:prstGeom>
          <a:solidFill>
            <a:srgbClr val="FF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</a:pPr>
            <a:r>
              <a:rPr sz="18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203911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3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2039112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9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10.31 – 11.2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846320"/>
            <a:ext cx="457200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2039112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매일 11:00 – 20:00</a:t>
            </a:r>
          </a:p>
          <a:p>
            <a:pPr algn="l">
              <a:lnSpc>
                <a:spcPct val="125000"/>
              </a:lnSpc>
            </a:pPr>
            <a:r>
              <a:rPr sz="12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우천 시 실내 부스 운영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560320"/>
            <a:ext cx="2587752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3657600" y="2880360"/>
            <a:ext cx="566928" cy="566928"/>
          </a:xfrm>
          <a:prstGeom prst="ellipse">
            <a:avLst/>
          </a:prstGeom>
          <a:solidFill>
            <a:srgbClr val="E4E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57600" y="28803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</a:pPr>
            <a:r>
              <a:rPr sz="18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657600"/>
            <a:ext cx="203911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3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장소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023360"/>
            <a:ext cx="2039112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9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연남 골목 일대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4846320"/>
            <a:ext cx="457200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57600" y="5029200"/>
            <a:ext cx="2039112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참여 공간 9곳</a:t>
            </a:r>
          </a:p>
          <a:p>
            <a:pPr algn="l">
              <a:lnSpc>
                <a:spcPct val="125000"/>
              </a:lnSpc>
            </a:pPr>
            <a:r>
              <a:rPr sz="12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메인 무대: 골목 쉼터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560320"/>
            <a:ext cx="2587752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400800" y="2880360"/>
            <a:ext cx="566928" cy="566928"/>
          </a:xfrm>
          <a:prstGeom prst="ellipse">
            <a:avLst/>
          </a:prstGeom>
          <a:solidFill>
            <a:srgbClr val="FF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0" y="28803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</a:pPr>
            <a:r>
              <a:rPr sz="18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203911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3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23360"/>
            <a:ext cx="2039112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9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누구나 환영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846320"/>
            <a:ext cx="457200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0" y="5029200"/>
            <a:ext cx="2039112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가족 단위 방문 환영</a:t>
            </a:r>
          </a:p>
          <a:p>
            <a:pPr algn="l">
              <a:lnSpc>
                <a:spcPct val="125000"/>
              </a:lnSpc>
            </a:pPr>
            <a:r>
              <a:rPr sz="12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사전 신청 없이 입장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2560320"/>
            <a:ext cx="2587752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9144000" y="2880360"/>
            <a:ext cx="566928" cy="566928"/>
          </a:xfrm>
          <a:prstGeom prst="ellipse">
            <a:avLst/>
          </a:prstGeom>
          <a:solidFill>
            <a:srgbClr val="E4E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44000" y="28803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5000"/>
              </a:lnSpc>
            </a:pPr>
            <a:r>
              <a:rPr sz="18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657600"/>
            <a:ext cx="203911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3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주최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023360"/>
            <a:ext cx="2039112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9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이음책방 · 상인회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4846320"/>
            <a:ext cx="457200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144000" y="5029200"/>
            <a:ext cx="2039112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후원 확정 2곳</a:t>
            </a:r>
          </a:p>
          <a:p>
            <a:pPr algn="l">
              <a:lnSpc>
                <a:spcPct val="125000"/>
              </a:lnSpc>
            </a:pPr>
            <a:r>
              <a:rPr sz="12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자원봉사자 20명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548640" cy="914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00" b="1" lang="ko-KR" altLang="en-US">
                <a:solidFill>
                  <a:srgbClr val="FFB020"/>
                </a:solidFill>
                <a:latin typeface="맑은 고딕"/>
                <a:ea typeface="맑은 고딕"/>
                <a:cs typeface="맑은 고딕"/>
              </a:rPr>
              <a:t>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3400" b="1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세 갈래로</a:t>
            </a:r>
          </a:p>
          <a:p>
            <a:pPr algn="l">
              <a:lnSpc>
                <a:spcPct val="110000"/>
              </a:lnSpc>
            </a:pPr>
            <a:r>
              <a:rPr sz="3400" b="1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즐기는 사흘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lang="ko-KR" altLang="en-US">
                <a:solidFill>
                  <a:srgbClr val="E4E2FA"/>
                </a:solidFill>
                <a:latin typeface="맑은 고딕"/>
                <a:ea typeface="맑은 고딕"/>
                <a:cs typeface="맑은 고딕"/>
              </a:rPr>
              <a:t>하루 종일 골목 어디서나</a:t>
            </a:r>
          </a:p>
          <a:p>
            <a:pPr algn="l">
              <a:lnSpc>
                <a:spcPct val="140000"/>
              </a:lnSpc>
            </a:pPr>
            <a:r>
              <a:rPr sz="1400" b="0" lang="ko-KR" altLang="en-US">
                <a:solidFill>
                  <a:srgbClr val="E4E2FA"/>
                </a:solidFill>
                <a:latin typeface="맑은 고딕"/>
                <a:ea typeface="맑은 고딕"/>
                <a:cs typeface="맑은 고딕"/>
              </a:rPr>
              <a:t>무언가가 열려 있도록</a:t>
            </a:r>
          </a:p>
          <a:p>
            <a:pPr algn="l">
              <a:lnSpc>
                <a:spcPct val="140000"/>
              </a:lnSpc>
            </a:pPr>
            <a:r>
              <a:rPr sz="1400" b="0" lang="ko-KR" altLang="en-US">
                <a:solidFill>
                  <a:srgbClr val="E4E2FA"/>
                </a:solidFill>
                <a:latin typeface="맑은 고딕"/>
                <a:ea typeface="맑은 고딕"/>
                <a:cs typeface="맑은 고딕"/>
              </a:rPr>
              <a:t>프로그램을 배치했습니다.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 lang="ko-KR" altLang="en-US">
                <a:solidFill>
                  <a:srgbClr val="E4E2FA"/>
                </a:solidFill>
                <a:latin typeface="맑은 고딕"/>
                <a:ea typeface="맑은 고딕"/>
                <a:cs typeface="맑은 고딕"/>
              </a:rPr>
              <a:t>모든 프로그램 무료 · 체험은 현장 선착순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868680"/>
            <a:ext cx="6720840" cy="1600200"/>
          </a:xfrm>
          <a:prstGeom prst="roundRect">
            <a:avLst>
              <a:gd name="adj" fmla="val 8000"/>
            </a:avLst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846320" y="868680"/>
            <a:ext cx="128016" cy="1600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257800" y="114300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600" b="1" lang="ko-KR" altLang="en-US">
                <a:solidFill>
                  <a:srgbClr val="FFB020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09728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0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만나다</a:t>
            </a:r>
            <a:r>
              <a:rPr sz="13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   작가와의 대화 · 책 읽는 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846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동네를 쓰는 작가와 이야기를 나누고,</a:t>
            </a:r>
          </a:p>
          <a:p>
            <a:pPr algn="l">
              <a:lnSpc>
                <a:spcPct val="130000"/>
              </a:lnSpc>
            </a:pPr>
            <a:r>
              <a:rPr sz="13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낭독과 어쿠스틱 공연으로 저녁을 엽니다.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670048"/>
            <a:ext cx="6720840" cy="1600200"/>
          </a:xfrm>
          <a:prstGeom prst="roundRect">
            <a:avLst>
              <a:gd name="adj" fmla="val 8000"/>
            </a:avLst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846320" y="2670048"/>
            <a:ext cx="128016" cy="16002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57800" y="294436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6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98648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0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고르다</a:t>
            </a:r>
            <a:r>
              <a:rPr sz="13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   골목 책 장터 · 중고책 교환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01568"/>
            <a:ext cx="4846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부스 32곳에서 새 책을 고르고,</a:t>
            </a:r>
          </a:p>
          <a:p>
            <a:pPr algn="l">
              <a:lnSpc>
                <a:spcPct val="130000"/>
              </a:lnSpc>
            </a:pPr>
            <a:r>
              <a:rPr sz="13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집에 있던 책을 이웃의 책과 바꿉니다.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4471416"/>
            <a:ext cx="6720840" cy="1600200"/>
          </a:xfrm>
          <a:prstGeom prst="roundRect">
            <a:avLst>
              <a:gd name="adj" fmla="val 8000"/>
            </a:avLst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846320" y="4471416"/>
            <a:ext cx="128016" cy="1600200"/>
          </a:xfrm>
          <a:prstGeom prst="rect">
            <a:avLst/>
          </a:prstGeom>
          <a:solidFill>
            <a:srgbClr val="8B8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257800" y="474573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600" b="1" lang="ko-KR" altLang="en-US">
                <a:solidFill>
                  <a:srgbClr val="8B84E8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00016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0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만들다</a:t>
            </a:r>
            <a:r>
              <a:rPr sz="13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   그림책 체험 · 독립출판 워크숍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202936"/>
            <a:ext cx="4846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3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아이와 함께 그림책을 만들고,</a:t>
            </a:r>
          </a:p>
          <a:p>
            <a:pPr algn="l">
              <a:lnSpc>
                <a:spcPct val="130000"/>
              </a:lnSpc>
            </a:pPr>
            <a:r>
              <a:rPr sz="13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나만의 작은 책을 직접 제본해 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84048" cy="73152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목표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이음책방 · 2026 가을 골목 북페어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2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숫자로 보는 올해의 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6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지난해 봄 행사(방문 2,100명)의 두 배를 넘는 것이 목표입니다.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3520440" cy="3291840"/>
          </a:xfrm>
          <a:prstGeom prst="roundRect">
            <a:avLst>
              <a:gd name="adj" fmla="val 7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500" b="1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누적 방문객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788920" cy="11887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5000"/>
              </a:lnSpc>
            </a:pPr>
            <a:r>
              <a:rPr sz="6000" b="1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4,500</a:t>
            </a:r>
            <a:r>
              <a:rPr sz="2200" b="1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892040"/>
            <a:ext cx="548640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" y="50749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300" b="0" lang="ko-KR" altLang="en-US">
                <a:solidFill>
                  <a:srgbClr val="E4E2FA"/>
                </a:solidFill>
                <a:latin typeface="맑은 고딕"/>
                <a:ea typeface="맑은 고딕"/>
                <a:cs typeface="맑은 고딕"/>
              </a:rPr>
              <a:t>사흘간 골목을 찾는 사람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514600"/>
            <a:ext cx="352044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09160" y="28803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5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참여 부스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474720"/>
            <a:ext cx="2788920" cy="11887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5000"/>
              </a:lnSpc>
            </a:pPr>
            <a:r>
              <a:rPr sz="60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32</a:t>
            </a:r>
            <a:r>
              <a:rPr sz="22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4892040"/>
            <a:ext cx="548640" cy="457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9160" y="50749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3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서점 · 출판사 · 공방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514600"/>
            <a:ext cx="3520440" cy="3291840"/>
          </a:xfrm>
          <a:prstGeom prst="roundRect">
            <a:avLst>
              <a:gd name="adj" fmla="val 7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80" y="28803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5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도서 판매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474720"/>
            <a:ext cx="2788920" cy="11887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5000"/>
              </a:lnSpc>
            </a:pPr>
            <a:r>
              <a:rPr sz="60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3,000</a:t>
            </a:r>
            <a:r>
              <a:rPr sz="22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 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892040"/>
            <a:ext cx="548640" cy="4572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0" y="50749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300" b="0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중고책 교환 1,200권 별도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384048" cy="73152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45720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2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추진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이음책방 · 2026 가을 골목 북페어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32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행사까지 남은 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6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9월부터 차근차근 준비해 11월 결과 보고까지 마칩니다.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3493008"/>
            <a:ext cx="8897111" cy="54864"/>
          </a:xfrm>
          <a:prstGeom prst="rect">
            <a:avLst/>
          </a:prstGeom>
          <a:solidFill>
            <a:srgbClr val="E4E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45920" y="3493008"/>
            <a:ext cx="5560694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444752" y="3319272"/>
            <a:ext cx="402336" cy="402336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5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9월 2주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2011679" cy="1325880"/>
          </a:xfrm>
          <a:prstGeom prst="roundRect">
            <a:avLst>
              <a:gd name="adj" fmla="val 10000"/>
            </a:avLst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42702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5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참여 모집 마감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274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15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부스 배치 확정</a:t>
            </a:r>
          </a:p>
        </p:txBody>
      </p:sp>
      <p:sp>
        <p:nvSpPr>
          <p:cNvPr id="15" name="Oval 14"/>
          <p:cNvSpPr/>
          <p:nvPr/>
        </p:nvSpPr>
        <p:spPr>
          <a:xfrm>
            <a:off x="3669030" y="3319272"/>
            <a:ext cx="402336" cy="402336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818638" y="2468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5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9월 4주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64358" y="4069080"/>
            <a:ext cx="2011679" cy="1325880"/>
          </a:xfrm>
          <a:prstGeom prst="roundRect">
            <a:avLst>
              <a:gd name="adj" fmla="val 10000"/>
            </a:avLst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001518" y="42702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5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홍보 시작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1518" y="47274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15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포스터 · SNS 공개</a:t>
            </a:r>
          </a:p>
        </p:txBody>
      </p:sp>
      <p:sp>
        <p:nvSpPr>
          <p:cNvPr id="20" name="Oval 19"/>
          <p:cNvSpPr/>
          <p:nvPr/>
        </p:nvSpPr>
        <p:spPr>
          <a:xfrm>
            <a:off x="5893307" y="3319272"/>
            <a:ext cx="402336" cy="402336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42915" y="2468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5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10월 2주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8635" y="4069080"/>
            <a:ext cx="2011679" cy="1325880"/>
          </a:xfrm>
          <a:prstGeom prst="roundRect">
            <a:avLst>
              <a:gd name="adj" fmla="val 10000"/>
            </a:avLst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225795" y="42702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5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현장 준비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5795" y="47274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15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봉사자 교육 · 안전 점검</a:t>
            </a:r>
          </a:p>
        </p:txBody>
      </p:sp>
      <p:sp>
        <p:nvSpPr>
          <p:cNvPr id="25" name="Oval 24"/>
          <p:cNvSpPr/>
          <p:nvPr/>
        </p:nvSpPr>
        <p:spPr>
          <a:xfrm>
            <a:off x="8026146" y="3227832"/>
            <a:ext cx="585216" cy="585216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267194" y="2468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500" b="1" lang="ko-KR" altLang="en-US">
                <a:solidFill>
                  <a:srgbClr val="C97A00"/>
                </a:solidFill>
                <a:latin typeface="맑은 고딕"/>
                <a:ea typeface="맑은 고딕"/>
                <a:cs typeface="맑은 고딕"/>
              </a:rPr>
              <a:t>10.31 – 11.2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2914" y="4069080"/>
            <a:ext cx="2011679" cy="1325880"/>
          </a:xfrm>
          <a:prstGeom prst="roundRect">
            <a:avLst>
              <a:gd name="adj" fmla="val 10000"/>
            </a:avLst>
          </a:prstGeom>
          <a:solidFill>
            <a:srgbClr val="FFF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50073" y="42702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5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북페어 개최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0073" y="47274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15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사흘간 골목 운영</a:t>
            </a:r>
          </a:p>
        </p:txBody>
      </p:sp>
      <p:sp>
        <p:nvSpPr>
          <p:cNvPr id="30" name="Oval 29"/>
          <p:cNvSpPr/>
          <p:nvPr/>
        </p:nvSpPr>
        <p:spPr>
          <a:xfrm>
            <a:off x="10341863" y="3319272"/>
            <a:ext cx="402336" cy="402336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491472" y="24688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500" b="1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11월 2주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37192" y="4069080"/>
            <a:ext cx="2011679" cy="1325880"/>
          </a:xfrm>
          <a:prstGeom prst="roundRect">
            <a:avLst>
              <a:gd name="adj" fmla="val 10000"/>
            </a:avLst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674351" y="427024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500" b="1" lang="ko-KR" altLang="en-US">
                <a:solidFill>
                  <a:srgbClr val="1E1B4B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1" y="47274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15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정산 · 소책자 원고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6692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0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11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 완료    </a:t>
            </a:r>
            <a:r>
              <a:rPr sz="1100" b="0" lang="ko-KR" altLang="en-US">
                <a:solidFill>
                  <a:srgbClr val="4338CA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11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 예정    </a:t>
            </a:r>
            <a:r>
              <a:rPr sz="1100" b="0" lang="ko-KR" altLang="en-US">
                <a:solidFill>
                  <a:srgbClr val="FFB020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1100" b="0" lang="ko-KR" altLang="en-US">
                <a:solidFill>
                  <a:srgbClr val="5F5C86"/>
                </a:solidFill>
                <a:latin typeface="맑은 고딕"/>
                <a:ea typeface="맑은 고딕"/>
                <a:cs typeface="맑은 고딕"/>
              </a:rPr>
              <a:t> 행사 기간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52760" y="4754880"/>
            <a:ext cx="1188720" cy="1188720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332720" y="731520"/>
            <a:ext cx="1188720" cy="118872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48640" cy="914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5000" b="1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골목에서 만나요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000" b="0" lang="ko-KR" altLang="en-US">
                <a:solidFill>
                  <a:srgbClr val="E4E2FA"/>
                </a:solidFill>
                <a:latin typeface="맑은 고딕"/>
                <a:ea typeface="맑은 고딕"/>
                <a:cs typeface="맑은 고딕"/>
              </a:rPr>
              <a:t>책 한 권을 들고 오셔도, 빈손으로 오셔도 좋습니다.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97680"/>
            <a:ext cx="3017520" cy="868680"/>
          </a:xfrm>
          <a:prstGeom prst="roundRect">
            <a:avLst>
              <a:gd name="adj" fmla="val 15000"/>
            </a:avLst>
          </a:prstGeom>
          <a:solidFill>
            <a:srgbClr val="2C2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88720" y="4297680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00" b="1" lang="ko-KR" altLang="en-US">
                <a:solidFill>
                  <a:srgbClr val="FFB020"/>
                </a:solidFill>
                <a:latin typeface="맑은 고딕"/>
                <a:ea typeface="맑은 고딕"/>
                <a:cs typeface="맑은 고딕"/>
              </a:rPr>
              <a:t>문의</a:t>
            </a:r>
          </a:p>
          <a:p>
            <a:pPr algn="l">
              <a:lnSpc>
                <a:spcPct val="120000"/>
              </a:lnSpc>
            </a:pPr>
            <a:r>
              <a:rPr sz="1400" b="1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이음책방 기획팀 김하늘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4297680"/>
            <a:ext cx="3017520" cy="868680"/>
          </a:xfrm>
          <a:prstGeom prst="roundRect">
            <a:avLst>
              <a:gd name="adj" fmla="val 15000"/>
            </a:avLst>
          </a:prstGeom>
          <a:solidFill>
            <a:srgbClr val="2C2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34840" y="4297680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00" b="1" lang="ko-KR" altLang="en-US">
                <a:solidFill>
                  <a:srgbClr val="FFB020"/>
                </a:solidFill>
                <a:latin typeface="맑은 고딕"/>
                <a:ea typeface="맑은 고딕"/>
                <a:cs typeface="맑은 고딕"/>
              </a:rPr>
              <a:t>전화</a:t>
            </a:r>
          </a:p>
          <a:p>
            <a:pPr algn="l">
              <a:lnSpc>
                <a:spcPct val="120000"/>
              </a:lnSpc>
            </a:pPr>
            <a:r>
              <a:rPr sz="1400" b="1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010-0000-0000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4297680"/>
            <a:ext cx="3017520" cy="868680"/>
          </a:xfrm>
          <a:prstGeom prst="roundRect">
            <a:avLst>
              <a:gd name="adj" fmla="val 15000"/>
            </a:avLst>
          </a:prstGeom>
          <a:solidFill>
            <a:srgbClr val="2C2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0" y="4297680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00" b="1" lang="ko-KR" altLang="en-US">
                <a:solidFill>
                  <a:srgbClr val="FFB020"/>
                </a:solidFill>
                <a:latin typeface="맑은 고딕"/>
                <a:ea typeface="맑은 고딕"/>
                <a:cs typeface="맑은 고딕"/>
              </a:rPr>
              <a:t>메일</a:t>
            </a:r>
          </a:p>
          <a:p>
            <a:pPr algn="l">
              <a:lnSpc>
                <a:spcPct val="120000"/>
              </a:lnSpc>
            </a:pPr>
            <a:r>
              <a:rPr sz="1400" b="1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hello@example.com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